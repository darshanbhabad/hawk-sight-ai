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89" r:id="rId5"/>
    <p:sldId id="305" r:id="rId6"/>
    <p:sldId id="313" r:id="rId7"/>
    <p:sldId id="290" r:id="rId8"/>
    <p:sldId id="306" r:id="rId9"/>
    <p:sldId id="315" r:id="rId10"/>
    <p:sldId id="307" r:id="rId11"/>
    <p:sldId id="316" r:id="rId12"/>
    <p:sldId id="308" r:id="rId13"/>
    <p:sldId id="317" r:id="rId14"/>
    <p:sldId id="318" r:id="rId15"/>
    <p:sldId id="319" r:id="rId16"/>
    <p:sldId id="314" r:id="rId17"/>
    <p:sldId id="297" r:id="rId18"/>
    <p:sldId id="30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389" y="7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7B2F-24C9-48F9-9454-5415367E065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0350" y="4422782"/>
            <a:ext cx="4932608" cy="2201985"/>
          </a:xfrm>
        </p:spPr>
        <p:txBody>
          <a:bodyPr>
            <a:normAutofit lnSpcReduction="10000"/>
          </a:bodyPr>
          <a:lstStyle/>
          <a:p>
            <a:pPr algn="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Mandar Ghadge (202301100024)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Darshan Bhabad (202301040169)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Nikhil Bodre (202301100008)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Atharav Barapatre (202301040077)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3485" y="2208508"/>
            <a:ext cx="1074098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for TY Major Project-1  (Review </a:t>
            </a:r>
            <a:r>
              <a:rPr lang="en-US" altLang="en-IN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IN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Sem I, 2025-26</a:t>
            </a:r>
          </a:p>
        </p:txBody>
      </p:sp>
      <p:pic>
        <p:nvPicPr>
          <p:cNvPr id="3078" name="Picture 6" descr="Image result for mit academy of engineering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83" y="200565"/>
            <a:ext cx="491490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34908" y="1347163"/>
            <a:ext cx="5634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7" name="Subtitle 2"/>
          <p:cNvSpPr txBox="1"/>
          <p:nvPr/>
        </p:nvSpPr>
        <p:spPr>
          <a:xfrm>
            <a:off x="574695" y="5178065"/>
            <a:ext cx="281459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Chaitanya Patil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6222" y="3223312"/>
            <a:ext cx="79617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 Stock Market Analysis &amp; Auto-Trading Platform with an Integrated Wallet System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Concept of the project</a:t>
            </a:r>
            <a:endParaRPr lang="en-US" altLang="en-IN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Block Diagram and its short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Design / Mathematical Understanding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Implementation (whatever little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possible))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References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of the project</a:t>
            </a:r>
          </a:p>
        </p:txBody>
      </p:sp>
      <p:pic>
        <p:nvPicPr>
          <p:cNvPr id="100" name="Content Placeholder 9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3525" y="0"/>
            <a:ext cx="6338475" cy="601249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D465D8-84EF-F688-290E-5B57006C016B}"/>
              </a:ext>
            </a:extLst>
          </p:cNvPr>
          <p:cNvSpPr txBox="1"/>
          <p:nvPr/>
        </p:nvSpPr>
        <p:spPr>
          <a:xfrm>
            <a:off x="352925" y="1690687"/>
            <a:ext cx="68178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engineer a unified, broker-less trading ecosystem for the modern retail investor.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platform integrates an AI prediction engine, a direct-custody wallet, and an automated execution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79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24115"/>
            <a:ext cx="10515600" cy="3959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to be project (over three semesters)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dirty="0"/>
              <a:t>Develop Predictive AI:</a:t>
            </a:r>
            <a:r>
              <a:rPr lang="en-US" sz="3200" dirty="0"/>
              <a:t> Engineer models (LSTM, </a:t>
            </a:r>
            <a:r>
              <a:rPr lang="en-US" sz="3200" dirty="0" err="1"/>
              <a:t>XGBoost</a:t>
            </a:r>
            <a:r>
              <a:rPr lang="en-US" sz="3200" dirty="0"/>
              <a:t>) for accurate price forecasting.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/>
              <a:t>Integrate Wallet System:</a:t>
            </a:r>
            <a:r>
              <a:rPr lang="en-US" sz="3200" dirty="0"/>
              <a:t> Build a secure, broker-less wallet for instant fund settlement and direct user control.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/>
              <a:t>Deliver User Applications:</a:t>
            </a:r>
            <a:r>
              <a:rPr lang="en-US" sz="3200" dirty="0"/>
              <a:t> Create a robust back testing engine and a cross-platform user interface.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690155" y="1188734"/>
            <a:ext cx="10515600" cy="1033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Retail trading is fragmented and inefficient due to broker dependency, resulting in high costs, slow T+1 settlements, and a lack of direct capital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605" y="1193482"/>
            <a:ext cx="10729595" cy="52025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System Architecture and selected the complete technology stack.	</a:t>
            </a:r>
          </a:p>
          <a:p>
            <a:pPr marL="0" indent="0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Developed a Foundational AI Model using an LSTM network in Python.	</a:t>
            </a:r>
          </a:p>
          <a:p>
            <a:pPr marL="0" indent="0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Functional Front-End Prototype for a live demonstration of the platform.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0A45E-A5DD-F9EA-AB00-FC60C039B7E6}"/>
              </a:ext>
            </a:extLst>
          </p:cNvPr>
          <p:cNvSpPr txBox="1"/>
          <p:nvPr/>
        </p:nvSpPr>
        <p:spPr>
          <a:xfrm>
            <a:off x="548640" y="304800"/>
            <a:ext cx="864108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 to be done in this semester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17" y="11693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Block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B2ABAA-5856-ACB7-78D4-FC3333EFE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751" y="1179979"/>
            <a:ext cx="2597331" cy="556109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0022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sz="4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AI Development Workflow: A Disciplined Approach</a:t>
            </a:r>
            <a:br>
              <a:rPr lang="en-US" b="1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7504"/>
            <a:ext cx="10515600" cy="4940936"/>
          </a:xfrm>
        </p:spPr>
        <p:txBody>
          <a:bodyPr>
            <a:no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shows our end-to-end process for building a high-performance predictive engine. We've structured it into four professional stages: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Foundation: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begin by acquiring historical NSE data. This raw data is then rigorously cleaned, normalized, and enhanced by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new features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technical indicators (RSI, MACD), which provide critical market context beyond simple price.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Modeling: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rely on a single model. We train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multiple approaches in parallel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from industry-standard classical models like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advanced deep learning networks like LSTMs. We then use automated tools to tune these models for peak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3B82B-A409-57D1-8F0D-843B1ACE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C71A-CF1A-4F5A-38BD-967A932B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0022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sz="4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AI Development Workflow: A Disciplined Approach</a:t>
            </a:r>
            <a:br>
              <a:rPr lang="en-US" b="1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C2E4F-2D1A-6B12-0CDD-5164C9F23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5625"/>
            <a:ext cx="10515600" cy="4351338"/>
          </a:xfrm>
        </p:spPr>
        <p:txBody>
          <a:bodyPr>
            <a:no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Rigorous Validation: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is only useful if it's proven to work. We first measure its predictive accuracy, then use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tools (SHAP)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its decisions are logical. Finally, we conduct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its real-world profitability as a trading strategy.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Deployment: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final, validated model is packaged into an interactive web application, allowing us to demonstrate its predictive power in a live, user-friendly environment.</a:t>
            </a:r>
          </a:p>
        </p:txBody>
      </p:sp>
    </p:spTree>
    <p:extLst>
      <p:ext uri="{BB962C8B-B14F-4D97-AF65-F5344CB8AC3E}">
        <p14:creationId xmlns:p14="http://schemas.microsoft.com/office/powerpoint/2010/main" val="291669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methodology follows a rigorous, multi-stage data science and software development pipeline:</a:t>
            </a:r>
          </a:p>
          <a:p>
            <a:r>
              <a:rPr lang="en-US" b="1" dirty="0"/>
              <a:t>Data Acquisition &amp; Preprocessing:</a:t>
            </a:r>
            <a:r>
              <a:rPr lang="en-US" dirty="0"/>
              <a:t> We use the </a:t>
            </a:r>
            <a:r>
              <a:rPr lang="en-US" dirty="0" err="1"/>
              <a:t>yfinance</a:t>
            </a:r>
            <a:r>
              <a:rPr lang="en-US" dirty="0"/>
              <a:t> library to acquire historical NSE stock data. This data is then cleaned, normalized (scaled between 0 and 1), and transformed into sequences suitable for time-series modeling using scikit-learn.</a:t>
            </a:r>
          </a:p>
          <a:p>
            <a:r>
              <a:rPr lang="en-US" b="1" dirty="0"/>
              <a:t>Model Development:</a:t>
            </a:r>
            <a:r>
              <a:rPr lang="en-US" dirty="0"/>
              <a:t> We construct a Long Short-Term Memory (LSTM) neural network using TensorFlow/</a:t>
            </a:r>
            <a:r>
              <a:rPr lang="en-US" dirty="0" err="1"/>
              <a:t>Keras</a:t>
            </a:r>
            <a:r>
              <a:rPr lang="en-US" dirty="0"/>
              <a:t>. This architecture is specifically chosen for its ability to remember long-term patterns in sequential data, which is critical for market analysis.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0D9F2-B820-4A7F-5E6F-DB68EBC9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A42E-9D57-BAF8-7D0A-5BEE1D64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D5882-14D5-DAB5-5F0B-400530FDD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Training:</a:t>
            </a:r>
            <a:r>
              <a:rPr lang="en-US" dirty="0"/>
              <a:t> The model is trained on years of historical data. It learns to predict the next day's closing price based on the price movements of the previous 60 days.</a:t>
            </a:r>
          </a:p>
          <a:p>
            <a:r>
              <a:rPr lang="en-US" b="1" dirty="0"/>
              <a:t>Strategy </a:t>
            </a:r>
            <a:r>
              <a:rPr lang="en-US" b="1" dirty="0" err="1"/>
              <a:t>Backtesting</a:t>
            </a:r>
            <a:r>
              <a:rPr lang="en-US" b="1" dirty="0"/>
              <a:t>:</a:t>
            </a:r>
            <a:r>
              <a:rPr lang="en-US" dirty="0"/>
              <a:t> The model's signals will be fed into the </a:t>
            </a:r>
            <a:r>
              <a:rPr lang="en-US" dirty="0" err="1"/>
              <a:t>backtrader</a:t>
            </a:r>
            <a:r>
              <a:rPr lang="en-US" dirty="0"/>
              <a:t> engine to simulate its performance against historical data, allowing us to validate its real-world effectiveness.</a:t>
            </a:r>
          </a:p>
          <a:p>
            <a:r>
              <a:rPr lang="en-US" b="1" dirty="0"/>
              <a:t>Front-End Implementation:</a:t>
            </a:r>
            <a:r>
              <a:rPr lang="en-US" dirty="0"/>
              <a:t> We have developed a functional user interface using HTML and Tailwind CSS that simulates the live trading environment and provides controls for the auto-trading engine.</a:t>
            </a:r>
          </a:p>
        </p:txBody>
      </p:sp>
    </p:spTree>
    <p:extLst>
      <p:ext uri="{BB962C8B-B14F-4D97-AF65-F5344CB8AC3E}">
        <p14:creationId xmlns:p14="http://schemas.microsoft.com/office/powerpoint/2010/main" val="1862000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319405"/>
            <a:ext cx="4389120" cy="640715"/>
          </a:xfrm>
        </p:spPr>
        <p:txBody>
          <a:bodyPr>
            <a:noAutofit/>
          </a:bodyPr>
          <a:lstStyle/>
          <a:p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Initial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" y="1295400"/>
            <a:ext cx="11871960" cy="5715000"/>
          </a:xfrm>
        </p:spPr>
        <p:txBody>
          <a:bodyPr>
            <a:normAutofit/>
          </a:bodyPr>
          <a:lstStyle/>
          <a:p>
            <a:r>
              <a:rPr lang="en-US" dirty="0"/>
              <a:t>Our initial design is predicated on a fundamental principle: stock market data is not a collection of independent points, but a </a:t>
            </a:r>
            <a:r>
              <a:rPr lang="en-US" b="1" dirty="0"/>
              <a:t>sequential narrative</a:t>
            </a:r>
            <a:r>
              <a:rPr lang="en-US" dirty="0"/>
              <a:t>. Each day's price is a "word" that only makes sense in the context of the "sentences" that came before it. Traditional machine learning models are memoryless; they cannot read these sentences. To solve this, our core design is built around a </a:t>
            </a:r>
            <a:r>
              <a:rPr lang="en-US" b="1" dirty="0"/>
              <a:t>Recurrent Neural Network (RNN)</a:t>
            </a:r>
            <a:r>
              <a:rPr lang="en-US" dirty="0"/>
              <a:t> architecture, specifically the </a:t>
            </a:r>
            <a:r>
              <a:rPr lang="en-US" b="1" dirty="0"/>
              <a:t>Long Short-Term Memory (LSTM)</a:t>
            </a:r>
            <a:r>
              <a:rPr lang="en-US" dirty="0"/>
              <a:t> network.</a:t>
            </a:r>
          </a:p>
          <a:p>
            <a:r>
              <a:rPr lang="en-US" b="1" dirty="0"/>
              <a:t>Why LSTMs are the Correct Tool:</a:t>
            </a:r>
            <a:endParaRPr lang="en-US" dirty="0"/>
          </a:p>
          <a:p>
            <a:r>
              <a:rPr lang="en-US" dirty="0"/>
              <a:t>An LSTM is a specialized neural network designed to recognize patterns in sequential data. Unlike standard networks, it possesses a form of memory that allows it to retain and carry forward information from earlier in a sequence. This is mathematically crucial for our project because: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0B4B-4FBE-981A-87C3-ADA75835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C86AE-68AE-47B7-2CC1-EF2E0E7D8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1295400"/>
            <a:ext cx="11871960" cy="5715000"/>
          </a:xfrm>
        </p:spPr>
        <p:txBody>
          <a:bodyPr>
            <a:normAutofit/>
          </a:bodyPr>
          <a:lstStyle/>
          <a:p>
            <a:r>
              <a:rPr lang="en-US" b="1" dirty="0"/>
              <a:t>Path Dependency:</a:t>
            </a:r>
            <a:r>
              <a:rPr lang="en-US" dirty="0"/>
              <a:t> The market has a "memory." A price movement today is influenced by trends, crashes, and rallies that happened days, weeks, or even months ago.</a:t>
            </a:r>
          </a:p>
          <a:p>
            <a:r>
              <a:rPr lang="en-US" b="1" dirty="0"/>
              <a:t>Long-Term Dependencies:</a:t>
            </a:r>
            <a:r>
              <a:rPr lang="en-US" dirty="0"/>
              <a:t> LSTMs are explicitly engineered to learn long-term patterns (e.g., the lingering effect of an earnings report from two months ago) while filtering out short-term market noise.</a:t>
            </a:r>
          </a:p>
          <a:p>
            <a:r>
              <a:rPr lang="en-US" dirty="0"/>
              <a:t>Our design choice is therefore not arbitrary; it is a direct solution to the time-series nature of our problem statement.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F3A26E-2FD2-2E17-A233-2F1C56AEEF88}"/>
              </a:ext>
            </a:extLst>
          </p:cNvPr>
          <p:cNvSpPr txBox="1">
            <a:spLocks/>
          </p:cNvSpPr>
          <p:nvPr/>
        </p:nvSpPr>
        <p:spPr>
          <a:xfrm>
            <a:off x="3688080" y="349885"/>
            <a:ext cx="438912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Initial Design  </a:t>
            </a:r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16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4FC0-696A-2F32-0106-D18E927D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E21F-6AAD-F2D0-5C8B-48190A20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690" y="334645"/>
            <a:ext cx="7246620" cy="56451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IN" sz="4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Mathematical Understanding </a:t>
            </a:r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FB4B-B459-2C75-2AB0-9CBECA82E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1066800"/>
            <a:ext cx="1187196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"memory" of an LSTM is controlled by a sophisticated structure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Within this cell, information is regulated by three mathematical "gates," which are essentially small neural networks that learn which data to allow through.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Cell State (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​): The Long-Term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foundation of the LSTM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vector that acts as a conveyor belt, carrying information down the sequence. The gates can add or remove information from this state.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Gate Mechanism: Sigmoid (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Tanh Activation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Function (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the gate controller. It squashes any input number to a value between 0 and 1. Think of it as a dial: 0 means "let nothing through," and 1 means "let everything through."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 Function: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function squashes values to be between -1 and 1, regulating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magnitude and direction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new information.</a:t>
            </a:r>
          </a:p>
        </p:txBody>
      </p:sp>
    </p:spTree>
    <p:extLst>
      <p:ext uri="{BB962C8B-B14F-4D97-AF65-F5344CB8AC3E}">
        <p14:creationId xmlns:p14="http://schemas.microsoft.com/office/powerpoint/2010/main" val="2331491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116A4-1193-9DC5-75FD-9A63AC0CD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42F5-23B2-AA3D-3EDA-E80B3AD0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990600"/>
            <a:ext cx="11871960" cy="60198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3. The Three Gates:</a:t>
            </a:r>
            <a:endParaRPr lang="en-US" dirty="0"/>
          </a:p>
          <a:p>
            <a:r>
              <a:rPr lang="en-US" b="1" dirty="0"/>
              <a:t>Forget Gate (ft​):</a:t>
            </a:r>
            <a:r>
              <a:rPr lang="en-US" dirty="0"/>
              <a:t> This gate decides what information to discard from the cell state. It looks at the previous output (ht−1​) and the current input (</a:t>
            </a:r>
            <a:r>
              <a:rPr lang="en-US" dirty="0" err="1"/>
              <a:t>xt</a:t>
            </a:r>
            <a:r>
              <a:rPr lang="en-US" dirty="0"/>
              <a:t>​) and, for each piece of information in the old memory (Ct−1​), it outputs a number between 0 and 1. If the value is 0, the old memory is forgotten; if 1, it's kept.</a:t>
            </a:r>
          </a:p>
          <a:p>
            <a:pPr lvl="1"/>
            <a:r>
              <a:rPr lang="en-US" i="1" dirty="0"/>
              <a:t>Analogy: It learns that last week's minor price fluctuation is no longer relevant and "forgets" it.</a:t>
            </a:r>
            <a:endParaRPr lang="en-US" dirty="0"/>
          </a:p>
          <a:p>
            <a:r>
              <a:rPr lang="en-US" b="1" dirty="0"/>
              <a:t>Input Gate (it​):</a:t>
            </a:r>
            <a:r>
              <a:rPr lang="en-US" dirty="0"/>
              <a:t> This gate decides what new information to store. It has two parts:</a:t>
            </a:r>
          </a:p>
          <a:p>
            <a:pPr lvl="1"/>
            <a:r>
              <a:rPr lang="en-US" dirty="0"/>
              <a:t>A sigmoid layer decides </a:t>
            </a:r>
            <a:r>
              <a:rPr lang="en-US" i="1" dirty="0"/>
              <a:t>which</a:t>
            </a:r>
            <a:r>
              <a:rPr lang="en-US" dirty="0"/>
              <a:t> values to update.</a:t>
            </a:r>
          </a:p>
          <a:p>
            <a:pPr lvl="1"/>
            <a:r>
              <a:rPr lang="en-US" dirty="0"/>
              <a:t>A tanh layer creates a vector of </a:t>
            </a:r>
            <a:r>
              <a:rPr lang="en-US" i="1" dirty="0"/>
              <a:t>new candidate values</a:t>
            </a:r>
            <a:r>
              <a:rPr lang="en-US" dirty="0"/>
              <a:t> that could be added.</a:t>
            </a:r>
          </a:p>
          <a:p>
            <a:pPr lvl="1"/>
            <a:r>
              <a:rPr lang="en-US" i="1" dirty="0"/>
              <a:t>Analogy: It sees a massive spike in trading volume today and decides this is a critical event worth remembering.</a:t>
            </a:r>
            <a:endParaRPr lang="en-US" dirty="0"/>
          </a:p>
          <a:p>
            <a:r>
              <a:rPr lang="en-US" b="1" dirty="0"/>
              <a:t>Output Gate (</a:t>
            </a:r>
            <a:r>
              <a:rPr lang="en-US" b="1" dirty="0" err="1"/>
              <a:t>ot</a:t>
            </a:r>
            <a:r>
              <a:rPr lang="en-US" b="1" dirty="0"/>
              <a:t>​):</a:t>
            </a:r>
            <a:r>
              <a:rPr lang="en-US" dirty="0"/>
              <a:t> This gate determines the final output (</a:t>
            </a:r>
            <a:r>
              <a:rPr lang="en-US" dirty="0" err="1"/>
              <a:t>ht</a:t>
            </a:r>
            <a:r>
              <a:rPr lang="en-US" dirty="0"/>
              <a:t>​) of the cell for the current time step. It takes the updated cell state, filters it through a tanh function, and then multiplies it by the output of a sigmoid gate. This </a:t>
            </a:r>
            <a:r>
              <a:rPr lang="en-US" dirty="0" err="1"/>
              <a:t>ht</a:t>
            </a:r>
            <a:r>
              <a:rPr lang="en-US" dirty="0"/>
              <a:t>​ is what's used for the final prediction and is also passed to the next cell in the sequence.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D4F789-53F5-6F2F-AD11-4C5B1906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920" y="304165"/>
            <a:ext cx="7284720" cy="564515"/>
          </a:xfrm>
        </p:spPr>
        <p:txBody>
          <a:bodyPr>
            <a:normAutofit fontScale="90000"/>
          </a:bodyPr>
          <a:lstStyle/>
          <a:p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IN" sz="4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Mathematical Understanding </a:t>
            </a:r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709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Basic Implementation (what ever little possible)</a:t>
            </a:r>
            <a:b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AFAEEE-AA7C-E623-8238-3525D8A92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" y="1471643"/>
            <a:ext cx="119176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have built a  front-end prototype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serves as the user-facing part of our platform.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Demo Features: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Login/Signup: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authentication is simulated using local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Dashboard: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a simulated live feed of NSE stocks, a portfolio overview, and recent AI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Wallet: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can add funds to their wallet and see their balance update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Control Panel: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dedicated "Manage Auto-Invest" window allows users to activate the AI and set key risk parameters like "Total Investment Allocation" and "Max Loss Threshold."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implementation is a major step forward, proving that our architectural design is viable and providing a tangible demonstration of the final product.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44355"/>
            <a:ext cx="10515600" cy="67004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660" y="1009291"/>
            <a:ext cx="11809563" cy="5779697"/>
          </a:xfrm>
        </p:spPr>
        <p:txBody>
          <a:bodyPr>
            <a:normAutofit/>
          </a:bodyPr>
          <a:lstStyle/>
          <a:p>
            <a:r>
              <a:rPr lang="en-IN" sz="2400" dirty="0"/>
              <a:t>Hochreiter, S., &amp; Schmidhuber, J. (1997). Long Short-Term Memory. </a:t>
            </a:r>
            <a:r>
              <a:rPr lang="en-IN" sz="2400" i="1" dirty="0"/>
              <a:t>Neural Computation</a:t>
            </a:r>
            <a:r>
              <a:rPr lang="en-IN" sz="2400" dirty="0"/>
              <a:t>, 9(8), 1735-1780.</a:t>
            </a:r>
          </a:p>
          <a:p>
            <a:r>
              <a:rPr lang="en-IN" sz="2400" dirty="0"/>
              <a:t>Nelson, D. M., Pereira, A. C. M., &amp; de Oliveira, R. A. (2017). Stock Market's Price Movement Prediction with LSTM Neural Networks. </a:t>
            </a:r>
            <a:r>
              <a:rPr lang="en-IN" sz="2400" i="1" dirty="0"/>
              <a:t>International Joint Conference on Neural Networks (IJCNN)</a:t>
            </a:r>
            <a:r>
              <a:rPr lang="en-IN" sz="2400" dirty="0"/>
              <a:t>.</a:t>
            </a:r>
          </a:p>
          <a:p>
            <a:r>
              <a:rPr lang="en-IN" sz="2400" dirty="0"/>
              <a:t>Abadi, M., et al. (2016). TensorFlow: Large-Scale Machine Learning on Heterogeneous Distributed Systems. </a:t>
            </a:r>
            <a:r>
              <a:rPr lang="en-IN" sz="2400" i="1" dirty="0"/>
              <a:t>12th</a:t>
            </a:r>
            <a:r>
              <a:rPr lang="en-IN" sz="2400" dirty="0"/>
              <a:t> USENIX Symposium on Operating Systems Design</a:t>
            </a:r>
            <a:r>
              <a:rPr lang="en-IN" sz="2400" i="1" dirty="0"/>
              <a:t> and Implementation (OSDI '16)</a:t>
            </a:r>
            <a:r>
              <a:rPr lang="en-IN" sz="2400" dirty="0"/>
              <a:t>.</a:t>
            </a:r>
          </a:p>
          <a:p>
            <a:r>
              <a:rPr lang="en-IN" sz="2400" dirty="0"/>
              <a:t>Brownlee, J. (2021). </a:t>
            </a:r>
            <a:r>
              <a:rPr lang="en-IN" sz="2400" i="1" dirty="0"/>
              <a:t>Time</a:t>
            </a:r>
            <a:r>
              <a:rPr lang="en-IN" sz="2400" dirty="0"/>
              <a:t> Series Prediction with LSTMs using</a:t>
            </a:r>
            <a:r>
              <a:rPr lang="en-IN" sz="2400" i="1" dirty="0"/>
              <a:t> TensorFlow 2 in Keras</a:t>
            </a:r>
            <a:r>
              <a:rPr lang="en-IN" sz="2400" dirty="0"/>
              <a:t>. Machine Learning Mastery. Retrieved from https://machinelearningmastery.com/time-series-prediction-lstm-recurrent-neural-networks-python-keras/</a:t>
            </a:r>
          </a:p>
          <a:p>
            <a:r>
              <a:rPr lang="en-IN" sz="2400" dirty="0"/>
              <a:t>Aroush, R. (2019). </a:t>
            </a:r>
            <a:r>
              <a:rPr lang="en-IN" sz="2400" i="1" dirty="0"/>
              <a:t>yfinance - Yahoo! Finance market data downloader</a:t>
            </a:r>
            <a:r>
              <a:rPr lang="en-IN" sz="2400" dirty="0"/>
              <a:t>. Retrieved from https://pypi.org/project/yfinance/</a:t>
            </a:r>
          </a:p>
          <a:p>
            <a:r>
              <a:rPr lang="en-IN" sz="2400" dirty="0"/>
              <a:t>*Backtrader - A feature-rich Python framework for backtesting and trading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  <a:p>
            <a:pPr marL="0" indent="0" algn="ctr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</a:t>
            </a:r>
            <a:r>
              <a:rPr lang="en-IN" sz="6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1686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Index</vt:lpstr>
      <vt:lpstr>Concept of the project</vt:lpstr>
      <vt:lpstr>Problem statement</vt:lpstr>
      <vt:lpstr>PowerPoint Presentation</vt:lpstr>
      <vt:lpstr>Proposed Block System</vt:lpstr>
      <vt:lpstr> Our AI Development Workflow: A Disciplined Approach </vt:lpstr>
      <vt:lpstr> Our AI Development Workflow: A Disciplined Approach </vt:lpstr>
      <vt:lpstr>Methodology</vt:lpstr>
      <vt:lpstr>Methodology</vt:lpstr>
      <vt:lpstr> Initial Design   </vt:lpstr>
      <vt:lpstr>PowerPoint Presentation</vt:lpstr>
      <vt:lpstr> Mathematical Understanding  </vt:lpstr>
      <vt:lpstr> Mathematical Understanding  </vt:lpstr>
      <vt:lpstr>Basic Implementation (what ever little possible) </vt:lpstr>
      <vt:lpstr>Selected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Jitesh Jha</dc:creator>
  <cp:lastModifiedBy>Mandar Vijaykumar Ghadage</cp:lastModifiedBy>
  <cp:revision>87</cp:revision>
  <dcterms:created xsi:type="dcterms:W3CDTF">2019-11-12T13:11:00Z</dcterms:created>
  <dcterms:modified xsi:type="dcterms:W3CDTF">2025-10-08T22:11:24Z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AFE01D270E984E82BFC166C9D69A4949</vt:lpwstr>
  </property>
  <property fmtid="{D5CDD505-2E9C-101B-9397-08002B2CF9AE}" pid="3" name="KSOProductBuildVer">
    <vt:lpwstr>1033-11.2.0.10323</vt:lpwstr>
  </property>
</Properties>
</file>