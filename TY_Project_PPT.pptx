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9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0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7B2F-24C9-48F9-9454-5415367E0655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D870-EE68-4D7C-BF8C-47E35322BCD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0350" y="4422782"/>
            <a:ext cx="4932608" cy="2201985"/>
          </a:xfrm>
        </p:spPr>
        <p:txBody>
          <a:bodyPr>
            <a:normAutofit lnSpcReduction="10000"/>
          </a:bodyPr>
          <a:lstStyle/>
          <a:p>
            <a:pPr algn="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Mandar Ghadge (202301100024)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Darshan Bhabad (202301040169)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Nikhil Bodre (202301100008)</a:t>
            </a: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Atharav Barapatre (202301040077)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510" y="1993755"/>
            <a:ext cx="1074098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for TY Major Project </a:t>
            </a:r>
            <a:r>
              <a:rPr lang="en-US" altLang="en-IN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2025-26</a:t>
            </a:r>
          </a:p>
        </p:txBody>
      </p:sp>
      <p:pic>
        <p:nvPicPr>
          <p:cNvPr id="3078" name="Picture 6" descr="Image result for mit academy of engineering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83" y="200565"/>
            <a:ext cx="491490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34908" y="1347163"/>
            <a:ext cx="5634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7" name="Subtitle 2"/>
          <p:cNvSpPr txBox="1"/>
          <p:nvPr/>
        </p:nvSpPr>
        <p:spPr>
          <a:xfrm>
            <a:off x="574695" y="5178065"/>
            <a:ext cx="281459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Chaitanya Patil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3972" y="2686514"/>
            <a:ext cx="79617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HAWK SIGHT AI: Ai Stock Market Prediction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22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838200" y="150478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 &amp; Diagrams</a:t>
            </a: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Algorithm</a:t>
            </a: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924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465D8-84EF-F688-290E-5B57006C016B}"/>
              </a:ext>
            </a:extLst>
          </p:cNvPr>
          <p:cNvSpPr txBox="1"/>
          <p:nvPr/>
        </p:nvSpPr>
        <p:spPr>
          <a:xfrm>
            <a:off x="256675" y="1170399"/>
            <a:ext cx="1158240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The Problem: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Most student stock predictors over-claim accuracy by predicting next-day prices, which are ~99% noise.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Most tools score stocks one at a time and ignore co-movement, so users cannot judge real risk or diversify.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News sentiment is rarely combined with price models transparently; most rely on black-box scores.</a:t>
            </a:r>
          </a:p>
          <a:p>
            <a:br>
              <a:rPr lang="en-US" sz="2600" b="1" dirty="0"/>
            </a:br>
            <a:r>
              <a:rPr lang="en-US" sz="2600" b="1" dirty="0"/>
              <a:t>The Solution (Hawk Sight AI):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Hawk Sight AI</a:t>
            </a:r>
            <a:r>
              <a:rPr lang="en-US" sz="2600" dirty="0"/>
              <a:t> combines three honestly-evaluated models into one approve-before-trade workflow.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It leverages </a:t>
            </a:r>
            <a:r>
              <a:rPr lang="en-US" sz="2600" b="1" dirty="0"/>
              <a:t>Logistic Regression on engineered momentum, trend &amp; risk features</a:t>
            </a:r>
            <a:r>
              <a:rPr lang="en-US" sz="2600" dirty="0"/>
              <a:t> to estimate P(stock up in ~3 months).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It uses </a:t>
            </a:r>
            <a:r>
              <a:rPr lang="en-US" sz="2600" b="1" dirty="0"/>
              <a:t>walk-forward validation</a:t>
            </a:r>
            <a:r>
              <a:rPr lang="en-US" sz="2600" dirty="0"/>
              <a:t> with measured skill, not over-claims.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A2F4-8033-3A0A-A560-D3AE5D7D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6F21-84B5-9890-4BD1-98025322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24" y="18866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E0C7A-255D-23E2-6B12-FA489F4F7014}"/>
              </a:ext>
            </a:extLst>
          </p:cNvPr>
          <p:cNvSpPr txBox="1"/>
          <p:nvPr/>
        </p:nvSpPr>
        <p:spPr>
          <a:xfrm>
            <a:off x="256675" y="1514223"/>
            <a:ext cx="1158240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Arial" panose="020B0604020202020204" pitchFamily="34" charset="0"/>
              </a:rPr>
              <a:t>Honest Prediction:</a:t>
            </a:r>
            <a:r>
              <a:rPr lang="en-US" altLang="en-US" sz="2800" dirty="0">
                <a:latin typeface="Arial" panose="020B0604020202020204" pitchFamily="34" charset="0"/>
              </a:rPr>
              <a:t> Build a 3-month directional outlook (Logistic Regression on 12 features) and report skill above the base rate via walk-forward AUC.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Arial" panose="020B0604020202020204" pitchFamily="34" charset="0"/>
              </a:rPr>
              <a:t>Custom News-Sentiment NLP:</a:t>
            </a:r>
            <a:r>
              <a:rPr lang="en-US" altLang="en-US" sz="2800" dirty="0">
                <a:latin typeface="Arial" panose="020B0604020202020204" pitchFamily="34" charset="0"/>
              </a:rPr>
              <a:t> Train our own TF-IDF + Logistic Regression sentiment model on the Financial PhraseBank, with a finance lexicon and negation guard.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Arial" panose="020B0604020202020204" pitchFamily="34" charset="0"/>
              </a:rPr>
              <a:t>Portfolio-Level Action:</a:t>
            </a:r>
            <a:r>
              <a:rPr lang="en-US" altLang="en-US" sz="2800" dirty="0">
                <a:latin typeface="Arial" panose="020B0604020202020204" pitchFamily="34" charset="0"/>
              </a:rPr>
              <a:t> Build a Markowitz max-Sharpe optimizer (SciPy SLSQP) that turns predictions into a diversified, approve-before-trade basket.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Arial" panose="020B0604020202020204" pitchFamily="34" charset="0"/>
              </a:rPr>
              <a:t>End-to-End Product:</a:t>
            </a:r>
            <a:r>
              <a:rPr lang="en-US" altLang="en-US" sz="2800" dirty="0">
                <a:latin typeface="Arial" panose="020B0604020202020204" pitchFamily="34" charset="0"/>
              </a:rPr>
              <a:t> Deliver a full Flask + MySQL app with JWT auth, WebSocket live prices, virtual wallet and an audit-logged trade flow.</a:t>
            </a:r>
          </a:p>
        </p:txBody>
      </p:sp>
    </p:spTree>
    <p:extLst>
      <p:ext uri="{BB962C8B-B14F-4D97-AF65-F5344CB8AC3E}">
        <p14:creationId xmlns:p14="http://schemas.microsoft.com/office/powerpoint/2010/main" val="191963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6343B-7955-F8FC-E7B0-E99F7B41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2CD2-916C-73E3-4656-FFFFE99F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1" y="74279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4B341F-5B29-FB4B-A517-F0D764316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92045"/>
              </p:ext>
            </p:extLst>
          </p:nvPr>
        </p:nvGraphicFramePr>
        <p:xfrm>
          <a:off x="481261" y="1399842"/>
          <a:ext cx="11486152" cy="55923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71538">
                  <a:extLst>
                    <a:ext uri="{9D8B030D-6E8A-4147-A177-3AD203B41FA5}">
                      <a16:colId xmlns:a16="http://schemas.microsoft.com/office/drawing/2014/main" val="1038130888"/>
                    </a:ext>
                  </a:extLst>
                </a:gridCol>
                <a:gridCol w="2871538">
                  <a:extLst>
                    <a:ext uri="{9D8B030D-6E8A-4147-A177-3AD203B41FA5}">
                      <a16:colId xmlns:a16="http://schemas.microsoft.com/office/drawing/2014/main" val="2192181974"/>
                    </a:ext>
                  </a:extLst>
                </a:gridCol>
                <a:gridCol w="2871538">
                  <a:extLst>
                    <a:ext uri="{9D8B030D-6E8A-4147-A177-3AD203B41FA5}">
                      <a16:colId xmlns:a16="http://schemas.microsoft.com/office/drawing/2014/main" val="1033737339"/>
                    </a:ext>
                  </a:extLst>
                </a:gridCol>
                <a:gridCol w="2871538">
                  <a:extLst>
                    <a:ext uri="{9D8B030D-6E8A-4147-A177-3AD203B41FA5}">
                      <a16:colId xmlns:a16="http://schemas.microsoft.com/office/drawing/2014/main" val="1487905619"/>
                    </a:ext>
                  </a:extLst>
                </a:gridCol>
              </a:tblGrid>
              <a:tr h="4788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Sr. No.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Author (Year)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Paper Title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Key Methodology / Findings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1330931392"/>
                  </a:ext>
                </a:extLst>
              </a:tr>
              <a:tr h="65226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Markowitz (1952)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Portfolio Selection (Journal of Finance)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Foundational Modern Portfolio Theory: the mean-variance trade-off implemented in our optimizer.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2872875379"/>
                  </a:ext>
                </a:extLst>
              </a:tr>
              <a:tr h="5254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Fama (1970)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Efficient Capital Markets: A Review of Theory and Empirical Work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Showed short-horizon prices are near-random; motivates predicting 3-month direction, not next-day price.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2404419575"/>
                  </a:ext>
                </a:extLst>
              </a:tr>
              <a:tr h="65226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Jegadeesh &amp; Titman (1993)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Returns to Buying Winners and Selling Losers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Showed 3-12 month momentum predicts returns; validates our 1m/3m/6m/12m momentum features.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887042934"/>
                  </a:ext>
                </a:extLst>
              </a:tr>
              <a:tr h="5254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Malo et al. (2014)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</a:rPr>
                        <a:t>Good Debt or Bad Debt: Detecting Semantic Orientations in Economic Texts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Financial PhraseBank — expert-labelled finance sentences; our sentiment training corpus.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3623328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91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E21F-D7DF-30BE-57EA-C883D489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8E7A-8025-7181-B39B-BCB0D650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24" y="18866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882312-F686-6D2D-2435-F6016E779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077508"/>
              </p:ext>
            </p:extLst>
          </p:nvPr>
        </p:nvGraphicFramePr>
        <p:xfrm>
          <a:off x="352924" y="1514223"/>
          <a:ext cx="11486152" cy="47718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71538">
                  <a:extLst>
                    <a:ext uri="{9D8B030D-6E8A-4147-A177-3AD203B41FA5}">
                      <a16:colId xmlns:a16="http://schemas.microsoft.com/office/drawing/2014/main" val="3268920379"/>
                    </a:ext>
                  </a:extLst>
                </a:gridCol>
                <a:gridCol w="2871538">
                  <a:extLst>
                    <a:ext uri="{9D8B030D-6E8A-4147-A177-3AD203B41FA5}">
                      <a16:colId xmlns:a16="http://schemas.microsoft.com/office/drawing/2014/main" val="303869246"/>
                    </a:ext>
                  </a:extLst>
                </a:gridCol>
                <a:gridCol w="2871538">
                  <a:extLst>
                    <a:ext uri="{9D8B030D-6E8A-4147-A177-3AD203B41FA5}">
                      <a16:colId xmlns:a16="http://schemas.microsoft.com/office/drawing/2014/main" val="1466439706"/>
                    </a:ext>
                  </a:extLst>
                </a:gridCol>
                <a:gridCol w="2871538">
                  <a:extLst>
                    <a:ext uri="{9D8B030D-6E8A-4147-A177-3AD203B41FA5}">
                      <a16:colId xmlns:a16="http://schemas.microsoft.com/office/drawing/2014/main" val="1264923787"/>
                    </a:ext>
                  </a:extLst>
                </a:gridCol>
              </a:tblGrid>
              <a:tr h="4812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Sr. No.</a:t>
                      </a: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 (Year)</a:t>
                      </a: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 Title</a:t>
                      </a: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Methodology / Findings</a:t>
                      </a: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2701179429"/>
                  </a:ext>
                </a:extLst>
              </a:tr>
              <a:tr h="5254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Sharpe (1966)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</a:rPr>
                        <a:t>Mutual Fund Performance (Journal of Business)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Introduced the Sharpe ratio — return per unit of risk — our optimizer's objective.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2074427412"/>
                  </a:ext>
                </a:extLst>
              </a:tr>
              <a:tr h="5254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López de Prado (2018)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Advances in Financial Machine Learning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Argued ML in finance needs walk-forward CV with embargo. We use 5 windows + 63-day gap.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1428684753"/>
                  </a:ext>
                </a:extLst>
              </a:tr>
              <a:tr h="7790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Araci (2019)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FinBERT: Financial Sentiment Analysis with Pre-trained Language Models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Deep-learning sentiment benchmark on PhraseBank. Our TF-IDF + LogReg matches its accuracy without a GPU.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2550234187"/>
                  </a:ext>
                </a:extLst>
              </a:tr>
              <a:tr h="6722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Ledoit &amp; Wolf (2004)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Honey, I Shrunk the Sample Covariance Matrix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Showed Markowitz is fragile with noisy inputs; shrinking returns stabilises it. We apply the same shrinkage.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2965" marR="32965" marT="21976" marB="21976" anchor="ctr"/>
                </a:tc>
                <a:extLst>
                  <a:ext uri="{0D108BD9-81ED-4DB2-BD59-A6C34878D82A}">
                    <a16:rowId xmlns:a16="http://schemas.microsoft.com/office/drawing/2014/main" val="1828193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02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1BC48-757C-3114-61B6-9F2F422E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2D64-CA89-FCAB-9A30-5F1E5D43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 &amp; Diagrams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8B58D-0039-8A41-803D-F914627C0BFF}"/>
              </a:ext>
            </a:extLst>
          </p:cNvPr>
          <p:cNvSpPr txBox="1"/>
          <p:nvPr/>
        </p:nvSpPr>
        <p:spPr>
          <a:xfrm>
            <a:off x="336885" y="1064905"/>
            <a:ext cx="479658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4400" b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Block Diagram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Data Acquisition:</a:t>
            </a:r>
            <a:r>
              <a:rPr lang="en-US" altLang="en-US" sz="2200" dirty="0">
                <a:latin typeface="Arial" panose="020B0604020202020204" pitchFamily="34" charset="0"/>
              </a:rPr>
              <a:t> Daily OHLCV from yfinance, live quotes &amp; news from Finnhub, and the Financial PhraseBank corpus.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Preprocessing:</a:t>
            </a:r>
            <a:r>
              <a:rPr lang="en-US" altLang="en-US" sz="2200" dirty="0">
                <a:latin typeface="Arial" panose="020B0604020202020204" pitchFamily="34" charset="0"/>
              </a:rPr>
              <a:t> 12 features per stock (momentum, trend, volatility, RSI, volume) — z-scored.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Processing Unit:</a:t>
            </a:r>
            <a:r>
              <a:rPr lang="en-US" altLang="en-US" sz="2200" dirty="0">
                <a:latin typeface="Arial" panose="020B0604020202020204" pitchFamily="34" charset="0"/>
              </a:rPr>
              <a:t> Logistic Regression outlook, TF-IDF sentiment NLP &amp; Markowitz optimizer.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Output:</a:t>
            </a:r>
            <a:r>
              <a:rPr lang="en-US" altLang="en-US" sz="2200" dirty="0">
                <a:latin typeface="Arial" panose="020B0604020202020204" pitchFamily="34" charset="0"/>
              </a:rPr>
              <a:t> A 3-month up-probability, news mood (0-100), and an approve-before-trade basket.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03364-506D-E8E6-4ABD-F2DC22E89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63" y="1325563"/>
            <a:ext cx="7176226" cy="391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6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E81C-9B96-3372-ACC0-60E9B320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54E-99B8-4FD8-8C54-1756FF3C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 &amp; Diagrams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2736ED-F952-D5DD-E848-819F9474B1ED}"/>
              </a:ext>
            </a:extLst>
          </p:cNvPr>
          <p:cNvSpPr txBox="1"/>
          <p:nvPr/>
        </p:nvSpPr>
        <p:spPr>
          <a:xfrm>
            <a:off x="336885" y="1064905"/>
            <a:ext cx="4491789" cy="534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4400" b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Usecase Diagram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en-IN" sz="2350" dirty="0"/>
              <a:t> </a:t>
            </a:r>
            <a:r>
              <a:rPr lang="en-IN" dirty="0"/>
              <a:t>Interactions between the user and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Actor: User (Trader)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Register / Log in &amp; manage favourites.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View outlook, news mood &amp; live prices.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Approve Auto-Buy &amp; place paper trades.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Actor: System (AI Engine)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Fetch prices (yfinance) &amp; news (Finnhub).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Run outlook + sentiment models.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Build covariance &amp; solve max-Sharpe (SLSQP).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Update wallet &amp; write audit log (MySQL).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FA186-06C5-6E82-5BFC-6A8760951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3263" y="1325563"/>
            <a:ext cx="7176225" cy="391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5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FB-52D9-39C5-3621-E4386511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E0C7-09BE-50CD-A05F-15D3B4C9F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 &amp; Diagrams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0CD06-09CF-2A34-5EA7-D17A337D928D}"/>
              </a:ext>
            </a:extLst>
          </p:cNvPr>
          <p:cNvSpPr txBox="1"/>
          <p:nvPr/>
        </p:nvSpPr>
        <p:spPr>
          <a:xfrm>
            <a:off x="336885" y="1064904"/>
            <a:ext cx="4555957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4000" b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Sequence Diagram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Details the chronological order of operations for a single prediction request.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sends JWT-authed POST /predict_longterm {symbol: 'TSLA'} to Flask.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validates the JWT and loads cached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LongTermPredictor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Predictor fetches ~4 years OHLCV from yfinance and computes the 12 features.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z-scored; Logistic Regression outputs P(up in ~3 months) via sigmoid.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attaches walk-forward AUC, Brier, skill &amp; the trustworthy flag.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returned; UI renders probability, risk &amp; honest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068D9-2F3E-4D9E-AF24-A08A35F815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9522" y="1325563"/>
            <a:ext cx="7176225" cy="391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8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CAFE-7765-899E-9269-1DA8B40E8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FBF4-CFD7-1FF4-209F-95A17AEC0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6C91A-A448-5453-E4A8-B2C2CF7E34C3}"/>
              </a:ext>
            </a:extLst>
          </p:cNvPr>
          <p:cNvSpPr txBox="1"/>
          <p:nvPr/>
        </p:nvSpPr>
        <p:spPr>
          <a:xfrm>
            <a:off x="208548" y="1225689"/>
            <a:ext cx="4678891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(The Brain - Python / scikit-learn + SciPy):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longterm_model.py, sentiment.py, optimizer.py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3-month outlook, sentiment NLP &amp; max-Sharpe optimizer.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walk-forward evaluation.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background retrain (APScheduler).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View (The Face - HTML / Tailwind / Chart.js):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frontend/ (index.html, js/, styles.css)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+ Chart.js dashboard.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prices via WebSockets; JWT auth on client.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Panels for outlook, news, wallet &amp; auto-buy.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Controller (The Bridge - Flask + MySQL):</a:t>
            </a: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server.py, auth.py, db.py, news.py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Exposes a REST API (/predict_longterm, /news, /auto_buy, /trade).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JWT-protected routes, rate limiting &amp; MySQL audit log.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6DB2C-2BB7-CDF7-CAAA-E80C5E5730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6634" y="906967"/>
            <a:ext cx="5576818" cy="590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1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3653B-AC6A-C7D4-51DC-F30B4800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0C96-ADB1-869F-B4E5-281538EA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Algorithm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9602A-2014-056A-1A35-911BD0805F24}"/>
              </a:ext>
            </a:extLst>
          </p:cNvPr>
          <p:cNvSpPr txBox="1"/>
          <p:nvPr/>
        </p:nvSpPr>
        <p:spPr>
          <a:xfrm>
            <a:off x="208548" y="1225690"/>
            <a:ext cx="116465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Algorithms: Logistic Regression + TF-IDF NLP + Markowitz Optimization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Logistic Regression?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only ~40-60 independent 3-month outcomes per stock, deep nets overfit. LR matched them out-of-sample.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Specifics: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 Input: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features per stock (momentum, trend, volatility, RSI, MA-slope, volume) — z-scored.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 Model: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P(up)=sigma(w·x+b); log-loss + L2 (C=0.3).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Model: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TF-IDF -&gt; multinomial LR with softmax; PhraseBank + finance lexicon.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Optimizer: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Max-Sharpe via SciPy SLSQP; w_i &lt;= 0.35, long-only.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"Honest Evaluation" Innovation: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claims measured via 5-window walk-forward + 63-day embargo.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the base 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AUC &amp; Brier; the "trustworthy" flag fires only if walk-forward AUC &gt;= 0.55.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APScheduler retrains weekly — no faked real-time precision.</a:t>
            </a:r>
          </a:p>
        </p:txBody>
      </p:sp>
    </p:spTree>
    <p:extLst>
      <p:ext uri="{BB962C8B-B14F-4D97-AF65-F5344CB8AC3E}">
        <p14:creationId xmlns:p14="http://schemas.microsoft.com/office/powerpoint/2010/main" val="364572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03C9-E83F-F489-1B47-5246497C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573C-250C-E53F-8CBD-E783D0424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C394E8-220E-5238-2543-7E1DEDD1D275}"/>
              </a:ext>
            </a:extLst>
          </p:cNvPr>
          <p:cNvSpPr txBox="1"/>
          <p:nvPr/>
        </p:nvSpPr>
        <p:spPr>
          <a:xfrm>
            <a:off x="208548" y="1049227"/>
            <a:ext cx="1164656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Hawk Sight AI shows interpretable, honestly-evaluated models can beat over-claimed deep nets. The outlook gives real ranking signal (AUC ~0.71 on TSLA); sentiment hits 85.2% / 0.806 macro-F1; Markowitz turns these into an approve-before-trade basket.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FinBERT Sentiment Upgrade: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a fine-tuned FinBERT against our TF-IDF model and adopt it only if it wins on macro-F1.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Reinforcement-Learning Allocation: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single-shot Markowitz with a multi-period RL agent that rebalances through changing regimes.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Brokerage with Safeguards: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 from Alpaca paper to a real broker with kill-switch, position caps &amp; loss limits; deploy on AWS.</a:t>
            </a:r>
          </a:p>
        </p:txBody>
      </p:sp>
    </p:spTree>
    <p:extLst>
      <p:ext uri="{BB962C8B-B14F-4D97-AF65-F5344CB8AC3E}">
        <p14:creationId xmlns:p14="http://schemas.microsoft.com/office/powerpoint/2010/main" val="1208441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  <a:p>
            <a:pPr marL="0" indent="0" algn="ctr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  <a:r>
              <a:rPr lang="en-IN" sz="6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1292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Google Sans Text</vt:lpstr>
      <vt:lpstr>Times New Roman</vt:lpstr>
      <vt:lpstr>Office Theme</vt:lpstr>
      <vt:lpstr>PowerPoint Presentation</vt:lpstr>
      <vt:lpstr>Index</vt:lpstr>
      <vt:lpstr>Introduction</vt:lpstr>
      <vt:lpstr>Objectives</vt:lpstr>
      <vt:lpstr>Literature Survey</vt:lpstr>
      <vt:lpstr>Literature Survey</vt:lpstr>
      <vt:lpstr>Project Design &amp; Diagrams</vt:lpstr>
      <vt:lpstr>Project Design &amp; Diagrams</vt:lpstr>
      <vt:lpstr>Project Design &amp; Diagrams</vt:lpstr>
      <vt:lpstr>System Architecture</vt:lpstr>
      <vt:lpstr>Methodology &amp; Algorithm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Jitesh Jha</dc:creator>
  <cp:lastModifiedBy>Mandar Vijaykumar Ghadage</cp:lastModifiedBy>
  <cp:revision>91</cp:revision>
  <dcterms:created xsi:type="dcterms:W3CDTF">2019-11-12T13:11:00Z</dcterms:created>
  <dcterms:modified xsi:type="dcterms:W3CDTF">2026-05-25T08:56:35Z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AFE01D270E984E82BFC166C9D69A4949</vt:lpwstr>
  </property>
  <property fmtid="{D5CDD505-2E9C-101B-9397-08002B2CF9AE}" pid="3" name="KSOProductBuildVer">
    <vt:lpwstr>1033-11.2.0.10323</vt:lpwstr>
  </property>
</Properties>
</file>